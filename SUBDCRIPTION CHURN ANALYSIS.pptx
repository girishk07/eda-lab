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Lato" panose="020F0502020204030203" pitchFamily="34" charset="0"/>
      <p:regular r:id="rId23"/>
      <p:bold r:id="rId24"/>
      <p:italic r:id="rId25"/>
      <p:bold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00a0a3692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00a0a3692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00a0a3692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00a0a3692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00a0a3692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00a0a3692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00a0a3692_0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00a0a3692_0_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00a0a3692_0_4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00a0a3692_0_4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00a0a3692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00a0a3692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00a0a3692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00a0a3692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00a0a3692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00a0a3692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00a0a3692_0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00a0a3692_0_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00a0a3692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00a0a3692_0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00a0a3692_0_4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00a0a3692_0_4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00a0a3692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00a0a3692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00a0a3692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00a0a3692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00a0a3692_0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00a0a3692_0_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00a0a3692_0_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00a0a3692_0_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00a0a3692_0_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00a0a3692_0_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00a0a3692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00a0a3692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00a0a3692_0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00a0a3692_0_4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00a0a3692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00a0a3692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blastchar/telco-customer-churn/data?select=WA_Fn-UseC_-Telco-Customer-Churn.csv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colab.research.google.com/drive/1v6BitGFwMh-wq4TZWfttN6Pfp1DNuJ8m?usp=sharing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055875" y="315825"/>
            <a:ext cx="5017500" cy="144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100" b="1">
                <a:solidFill>
                  <a:srgbClr val="FFFF00"/>
                </a:solidFill>
              </a:rPr>
              <a:t>SUBSCRIPTION  CHURN ANALYSIS</a:t>
            </a:r>
            <a:endParaRPr sz="4100" b="1">
              <a:solidFill>
                <a:srgbClr val="FFFF00"/>
              </a:solidFill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702700" y="3068100"/>
            <a:ext cx="3441300" cy="20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/>
              <a:t>TEAM MEMBERS:</a:t>
            </a:r>
            <a:endParaRPr sz="2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 i="1"/>
              <a:t>PUSHPESH KUMAR SAH</a:t>
            </a:r>
            <a:endParaRPr sz="1900" b="1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 i="1"/>
              <a:t>GIRISH K</a:t>
            </a:r>
            <a:endParaRPr sz="1900" b="1" i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 i="1"/>
              <a:t>AKSHAY RAJU ACHARI</a:t>
            </a:r>
            <a:endParaRPr sz="1900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551150" y="210550"/>
            <a:ext cx="6041700" cy="22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 b="1">
                <a:solidFill>
                  <a:srgbClr val="FF0000"/>
                </a:solidFill>
              </a:rPr>
              <a:t>Customer Churn?</a:t>
            </a:r>
            <a:endParaRPr sz="29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latin typeface="Arial"/>
                <a:ea typeface="Arial"/>
                <a:cs typeface="Arial"/>
                <a:sym typeface="Arial"/>
              </a:rPr>
              <a:t>Customer churn</a:t>
            </a:r>
            <a:r>
              <a:rPr lang="en-GB" sz="2000">
                <a:latin typeface="Arial"/>
                <a:ea typeface="Arial"/>
                <a:cs typeface="Arial"/>
                <a:sym typeface="Arial"/>
              </a:rPr>
              <a:t> refers to when customers stop using a company's product or services.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-GB" sz="2000">
                <a:latin typeface="Arial"/>
                <a:ea typeface="Arial"/>
                <a:cs typeface="Arial"/>
                <a:sym typeface="Arial"/>
              </a:rPr>
              <a:t>: Netflix , Amazon Prime subscription.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551150" y="2571750"/>
            <a:ext cx="7128600" cy="239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0000"/>
              <a:t>Why it matters:</a:t>
            </a:r>
            <a:endParaRPr sz="3600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8000"/>
              <a:t>Losing customers reduces company revenue</a:t>
            </a:r>
            <a:br>
              <a:rPr lang="en-GB" sz="8000"/>
            </a:br>
            <a:endParaRPr sz="4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8000"/>
              <a:t>Understanding churn helps companies improve customer retention</a:t>
            </a:r>
            <a:endParaRPr sz="8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9461"/>
            </a:br>
            <a:endParaRPr sz="9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46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193475"/>
            <a:ext cx="6798900" cy="47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/>
              <a:t>Dataset Source &amp; Overview:</a:t>
            </a:r>
            <a:endParaRPr sz="2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/>
          </a:p>
          <a:p>
            <a:pPr marL="457200" lvl="0" indent="-363360" algn="l" rtl="0">
              <a:spcBef>
                <a:spcPts val="0"/>
              </a:spcBef>
              <a:spcAft>
                <a:spcPts val="0"/>
              </a:spcAft>
              <a:buSzPts val="2122"/>
              <a:buFont typeface="Arial"/>
              <a:buChar char="●"/>
            </a:pPr>
            <a:r>
              <a:rPr lang="en-GB" sz="2122">
                <a:latin typeface="Arial"/>
                <a:ea typeface="Arial"/>
                <a:cs typeface="Arial"/>
                <a:sym typeface="Arial"/>
              </a:rPr>
              <a:t>The dataset used for this analysis is the </a:t>
            </a:r>
            <a:r>
              <a:rPr lang="en-GB" sz="2122" b="1">
                <a:latin typeface="Arial"/>
                <a:ea typeface="Arial"/>
                <a:cs typeface="Arial"/>
                <a:sym typeface="Arial"/>
              </a:rPr>
              <a:t>Telco Customer Churn Dataset</a:t>
            </a:r>
            <a:r>
              <a:rPr lang="en-GB" sz="2122">
                <a:latin typeface="Arial"/>
                <a:ea typeface="Arial"/>
                <a:cs typeface="Arial"/>
                <a:sym typeface="Arial"/>
              </a:rPr>
              <a:t>.</a:t>
            </a:r>
            <a:endParaRPr sz="2122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22" b="1"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en-GB" sz="2422" b="1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2022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https://www.kaggle.com/datasets/blastchar/telco-customer-churn/data?select=WA_Fn-UseC_-Telco-Customer-Churn.csv</a:t>
            </a:r>
            <a:endParaRPr sz="2022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22" b="1"/>
              <a:t>Code link: </a:t>
            </a:r>
            <a:r>
              <a:rPr lang="en-GB" sz="2022" b="1" u="sng">
                <a:solidFill>
                  <a:schemeClr val="hlink"/>
                </a:solidFill>
                <a:hlinkClick r:id="rId4"/>
              </a:rPr>
              <a:t>https://colab.research.google.com/drive/1v6BitGFwMh-wq4TZWfttN6Pfp1DNuJ8m?usp=sharing</a:t>
            </a:r>
            <a:endParaRPr sz="2022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1283500" y="323700"/>
            <a:ext cx="7038900" cy="19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/>
              <a:t>Objective of the Analysis:</a:t>
            </a:r>
            <a:endParaRPr sz="1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44"/>
              <a:t>The objective of this analysis is to explore customer data and identify patterns that influence customer churn.</a:t>
            </a:r>
            <a:endParaRPr sz="2044"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1"/>
          </p:nvPr>
        </p:nvSpPr>
        <p:spPr>
          <a:xfrm>
            <a:off x="1283500" y="2507325"/>
            <a:ext cx="7038900" cy="24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What percentage of customers have churned?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What factors influence customer churn?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How do customer demographics affect churn behavior?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Does service type or contract type impact churn?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Do pricing factors such as monthly charges affect churn?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1297500" y="259000"/>
            <a:ext cx="6649800" cy="47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8" name="Google Shape;158;p1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5750" y="184400"/>
            <a:ext cx="6890725" cy="474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950" y="238125"/>
            <a:ext cx="6846100" cy="47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223250"/>
            <a:ext cx="6709450" cy="46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0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850" y="208350"/>
            <a:ext cx="6554400" cy="46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600" y="238125"/>
            <a:ext cx="6693700" cy="46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2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100" y="238125"/>
            <a:ext cx="6797849" cy="466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300" y="253000"/>
            <a:ext cx="6703250" cy="46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825" y="267900"/>
            <a:ext cx="6723475" cy="466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025" y="193475"/>
            <a:ext cx="6604400" cy="479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400" y="208350"/>
            <a:ext cx="6544851" cy="471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950" y="267900"/>
            <a:ext cx="6723475" cy="466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900" y="0"/>
            <a:ext cx="7664650" cy="526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400" y="223250"/>
            <a:ext cx="6786550" cy="47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>
            <a:spLocks noGrp="1"/>
          </p:cNvSpPr>
          <p:nvPr>
            <p:ph type="body" idx="1"/>
          </p:nvPr>
        </p:nvSpPr>
        <p:spPr>
          <a:xfrm>
            <a:off x="1052550" y="207750"/>
            <a:ext cx="7038900" cy="45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E3E3E3"/>
                </a:solidFill>
                <a:highlight>
                  <a:srgbClr val="282A2C"/>
                </a:highlight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2000" b="1">
                <a:solidFill>
                  <a:srgbClr val="E3E3E3"/>
                </a:solidFill>
                <a:highlight>
                  <a:srgbClr val="282A2C"/>
                </a:highlight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GB" sz="2500" b="1">
                <a:solidFill>
                  <a:srgbClr val="E3E3E3"/>
                </a:solidFill>
                <a:highlight>
                  <a:srgbClr val="282A2C"/>
                </a:highlight>
                <a:latin typeface="Arial"/>
                <a:ea typeface="Arial"/>
                <a:cs typeface="Arial"/>
                <a:sym typeface="Arial"/>
              </a:rPr>
              <a:t>CONCLUSION</a:t>
            </a:r>
            <a:endParaRPr sz="2500" b="1">
              <a:solidFill>
                <a:srgbClr val="E3E3E3"/>
              </a:solidFill>
              <a:highlight>
                <a:srgbClr val="282A2C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Around 26% of customers have churned, showing a noticeable churn rate.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Customers with month-to-month contracts show the highest churn compared to long-term contracts.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Customers with shorter tenure are more likely to churn, meaning new customers leave more frequently.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Customers paying higher monthly charges tend to churn more than those with lower charges.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Certain payment methods such as electronic check show higher churn rates.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241300" algn="l" rtl="0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200"/>
              <a:buFont typeface="Arial"/>
              <a:buChar char="●"/>
            </a:pPr>
            <a:endParaRPr sz="200" b="1">
              <a:solidFill>
                <a:srgbClr val="E3E3E3"/>
              </a:solidFill>
              <a:highlight>
                <a:srgbClr val="282A2C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>
            <a:spLocks noGrp="1"/>
          </p:cNvSpPr>
          <p:nvPr>
            <p:ph type="title"/>
          </p:nvPr>
        </p:nvSpPr>
        <p:spPr>
          <a:xfrm>
            <a:off x="1297500" y="36397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rgbClr val="00FF00"/>
                </a:solidFill>
              </a:rPr>
              <a:t>RECOMMENDATIONS</a:t>
            </a:r>
            <a:endParaRPr sz="2600" b="1">
              <a:solidFill>
                <a:srgbClr val="00FF00"/>
              </a:solidFill>
            </a:endParaRPr>
          </a:p>
        </p:txBody>
      </p:sp>
      <p:sp>
        <p:nvSpPr>
          <p:cNvPr id="229" name="Google Shape;229;p31"/>
          <p:cNvSpPr txBox="1">
            <a:spLocks noGrp="1"/>
          </p:cNvSpPr>
          <p:nvPr>
            <p:ph type="body" idx="1"/>
          </p:nvPr>
        </p:nvSpPr>
        <p:spPr>
          <a:xfrm>
            <a:off x="1297500" y="1086450"/>
            <a:ext cx="7038900" cy="33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Encourage customers to choose long-term contracts by offering discounts.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Improve customer onboarding for new customers to reduce early churn.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Promote automatic payment methods to improve retention.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●"/>
            </a:pPr>
            <a:r>
              <a:rPr lang="en-GB" sz="2000">
                <a:latin typeface="Arial"/>
                <a:ea typeface="Arial"/>
                <a:cs typeface="Arial"/>
                <a:sym typeface="Arial"/>
              </a:rPr>
              <a:t>Review pricing strategies for high monthly charge plans.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4575" y="297650"/>
            <a:ext cx="6533549" cy="4539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On-screen Show (16:9)</PresentationFormat>
  <Paragraphs>42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Montserrat</vt:lpstr>
      <vt:lpstr>Arial</vt:lpstr>
      <vt:lpstr>Lato</vt:lpstr>
      <vt:lpstr>Focus</vt:lpstr>
      <vt:lpstr>SUBSCRIPTION  CHURN ANALYSIS</vt:lpstr>
      <vt:lpstr>Customer Churn?  Customer churn refers to when customers stop using a company's product or services.  Example: Netflix , Amazon Prime subscription.</vt:lpstr>
      <vt:lpstr>Dataset Source &amp; Overview:  The dataset used for this analysis is the Telco Customer Churn Dataset.  Source: https://www.kaggle.com/datasets/blastchar/telco-customer-churn/data?select=WA_Fn-UseC_-Telco-Customer-Churn.csv  Code link: https://colab.research.google.com/drive/1v6BitGFwMh-wq4TZWfttN6Pfp1DNuJ8m?usp=sharing</vt:lpstr>
      <vt:lpstr>Objective of the Analysis:   The objective of this analysis is to explore customer data and identify patterns that influence customer churn.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Girish Krishna</cp:lastModifiedBy>
  <cp:revision>1</cp:revision>
  <dcterms:modified xsi:type="dcterms:W3CDTF">2026-03-15T15:44:28Z</dcterms:modified>
</cp:coreProperties>
</file>